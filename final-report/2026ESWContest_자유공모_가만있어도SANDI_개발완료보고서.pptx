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27448" y="4407408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8172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157216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유승하 · 김태균 · 한준우 · 강유나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10" name="Image 0" descr="/Users/kimjinsoo/Desktop/safenest-final-report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27632"/>
            <a:ext cx="292608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178040" y="1591056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60920" y="16824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360920" y="201168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265176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60920" y="329184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502920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2920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569464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761488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761488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2761488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28032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20056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20056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020056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086600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278624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278624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7278624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345168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537192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537192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9537192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020056" y="4590288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0056" y="45902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598932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09244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02920" y="592531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이 구간에서 사람의 존재와 상태를 자동으로 확인하고 현장에 경보를 낸다.</a:t>
            </a:r>
            <a:endParaRPr lang="en-US" sz="1350" dirty="0"/>
          </a:p>
        </p:txBody>
      </p:sp>
      <p:sp>
        <p:nvSpPr>
          <p:cNvPr id="53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6634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974336"/>
            <a:ext cx="111831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값이 도착하지 않아도 시스템은 아무 신호를 내지 않으며, 이 상태는 정상으로 해석된다. SafeNest 는 서로 다른 성질의 증거를 함께 수집하고 그 증거를 지금 신뢰할 수 있는지까지 판정하여 이 공백에 대응한다.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프레임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thermal_max_c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39696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76472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13248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4242816"/>
            <a:ext cx="6446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39696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76472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Express 5 · QR 공간코드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2376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307238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4343400"/>
                <a:gridCol w="1965960"/>
                <a:gridCol w="31821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/ PlatformIO (C++)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devices/esp32_node/firmware/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integration/pi_lcd/server.py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ondevice_ai/inference/, models/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ondevice_ai/risk/risk_engine.py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웹 관제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Node.js Express 5 (bcryptjs · jsonwebtoken · qrcode)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integration/web/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shared/contracts/base_sensor.py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1,904개 (패키징 시점 개발 스냅샷, commit 3f22fb1).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770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" y="4206240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0352" y="4645152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0352" y="5084064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30352" y="5522976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200" dirty="0"/>
          </a:p>
        </p:txBody>
      </p:sp>
      <p:pic>
        <p:nvPicPr>
          <p:cNvPr id="15" name="Image 0" descr="/Users/kimjinsoo/Desktop/safenest-final-report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파일 구성과 함수별 기능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구성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8163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esp32_node/firmware/esp32_sensor_node.ino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(741줄)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devices/{mmwave,co2,pir,thermal}/src/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어댑터, mock, 설정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shared/contracts/base_sensor.py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영역이 의존하는 공용 센서 계약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integration/pi_lcd/server.py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ondevice_ai/inference/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ondevice_ai/risk/{risk_engine,fallback}.py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ondevice_ai/integrated_node/run_node.py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integration/web/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Express 5 관제 웹, QR 생성, 시뮬레이터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함수별 기능</a:t>
            </a:r>
            <a:endParaRPr lang="en-US" sz="14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021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함수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formatNullableFloat()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유효하지 않은 수치를 0으로 대체하지 않고 null 로 직렬화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makePacketHeader()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SNST 16 B 헤더 생성 (magic·version·type·seq·length)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sendThermalUdp()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payload 9,936 B 를 1,200 B 데이터그램 9 조각으로 분할 송신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thermalFrameCrc32()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CRC32 계산, 모든 UDP 조각 헤더에 반복 기록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recoverThermalIfStale()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토글로 센서 재초기화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telemetryTcpTask() /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thermalUdpTask()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TCP·UDP 송신을 FreeRTOS 태스크로 분리해 상호 블로킹 차단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recv_exact()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경계 없음을 전제로 헤더·payload 길이만큼 정확 수신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SensorStore.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record_telemetry()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채널별 valid·수신 시각 기록, 5 s 기준 신선도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evaluate_sensor_health_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and_risk()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채널 가중치 재정규화 후 위험도 산출, 전부 무효면 None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02920" y="4700016"/>
            <a:ext cx="11183112" cy="1152144"/>
          </a:xfrm>
          <a:prstGeom prst="roundRect">
            <a:avLst>
              <a:gd name="adj" fmla="val 476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5010912"/>
            <a:ext cx="10762488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Express 5, gpiozero, NumPy.  위 자산은 학습·추론·통신에 활용하였으며, 센서 통합 펌웨어와 통신 프로토콜, 상태 관리, 위험도 엔진은 팀 자체 구현이다.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75104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72968" y="2066544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19472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7336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2066544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85800" y="3950208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seq · uptime_ms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thermal_max_c · pir_motion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co2, thermal }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9194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integration/pi_lcd/server.py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28529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18688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502920" y="548640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판단에서 제외하며 0으로 대체하지 않는다.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integration/pi_lcd 테스트 13건을 실행해 전부 통과하였다. 부분 수신, 잘못된 헤더, 시퀀스 불일치, 신선도 판정이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평가 미수행)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8668512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EMPTY_ROOM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177272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10241280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NOT_HUMAN 판정 화면 삽입 예정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604504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8668512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LYING 자세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10177272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10241280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HUMAN_FALL 판정 화면 삽입 예정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8604504" y="3968496"/>
            <a:ext cx="30815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2] Thermal-90 실기기 온디바이스 판정 예시 (이미지 삽입 예정). thermal_fall_int8@0.1.0, per-frame min-max. HUMAN_FALL은 LYING 자세 프록시이며 실제 낙상 사건 판정이 아님.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02920" y="4572000"/>
            <a:ext cx="11183112" cy="1298448"/>
          </a:xfrm>
          <a:prstGeom prst="roundRect">
            <a:avLst>
              <a:gd name="adj" fmla="val 4225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13232" y="4864608"/>
            <a:ext cx="10762488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현재 Production 열화상 경로는 per-frame min-max + thermal_fall_int8 v0.1.0 이다. ℃ 변환 → P1 z-score → FULL_INT8(B5) 경로는 오프라인 진단·호환성 검증용으로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레거시 시험 코드에서 구현·검증하였으며, Production 추론 경로와 분리해 운용한다.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ondevice_ai/models/model_manifest.json · 03_Evidence/Thermal/phase4_6_inference_report.md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111831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1883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상태에 따른 산출 방식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479024" y="1883664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79024" y="1883664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2648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유효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79392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89120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 무효 또는 STALE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0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재정규화하여 산출한다.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 입력을 마지막 정상값으로 대체하지 않는다.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165592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무효 또는 결측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65592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= None, risk_level = None.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위험도를 산출하지 않으며 정상으로 표시하지 않는다.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351129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02920" y="3840480"/>
            <a:ext cx="6720840" cy="1389888"/>
          </a:xfrm>
          <a:prstGeom prst="roundRect">
            <a:avLst>
              <a:gd name="adj" fmla="val 394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931920"/>
            <a:ext cx="63550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406640" y="3840480"/>
            <a:ext cx="42793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391363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(ondevice_ai/risk/fallback.py)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589520" y="4133088"/>
            <a:ext cx="39319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자체를 내지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5358384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임계값의 근거 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1,500 ppm 은 실내공기질 관리법 시행규칙 별표2가 정한 기계환기 시설의 유지기준과 같은 값이다. 산업안전보건기준에 관한 규칙 제618조의 적정공기 기준(CO₂ 1.5 %, 곧 15,000 ppm 미만)보다 훨씬 낮은 조기경보 지점에 해당한다.  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30 / 60 및 CO₂ 2,000 ppm 은 팀 내부 실험 기준값이며 대외 공인 기준이 아니다.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예시는 정본 fallback.py 를 그대로 실행해 얻은 값이다. 열화상 판정은 다른 센서의 상태·신선도와 함께 최종 위험도를 결정하는 입력으로 쓰인다. 검증 : 위험도 테스트 22건 실행 전부 통과.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서로 다른 조건에서 채널별로 수행하였으며, 통합 시스템 성능으로 합산하지 않는다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CO₂ 센서 연속 수신 검증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88920" y="14630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ESP32 192.168.1.16 → Pi 5 192.168.1.44:9000, TCP 실경로, 2026-08-12</a:t>
            </a:r>
            <a:endParaRPr lang="en-US" sz="950" dirty="0"/>
          </a:p>
        </p:txBody>
      </p:sp>
      <p:pic>
        <p:nvPicPr>
          <p:cNvPr id="12" name="Image 0" descr="/Users/kimjinsoo/Desktop/safenest-final-report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55648"/>
            <a:ext cx="5513832" cy="2267712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14800"/>
          <a:ext cx="5513832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280160"/>
                <a:gridCol w="1088136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02920" y="5632704"/>
            <a:ext cx="55138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채우거나 삭제하지 않고 원본 그대로 보존한 뒤 재측정하였다. 호기 세션 최고 1,493 ppm, 종료 634 ppm.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펌웨어 빌드 자원 : RAM 32,356 / 327,680 B (9.9 %), Flash 268,765 / 1,310,720 B (20.5 %).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26364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mmWave 수신 안정성 및 리플레이 결과</a:t>
            </a:r>
            <a:endParaRPr lang="en-US" sz="1450" dirty="0"/>
          </a:p>
        </p:txBody>
      </p:sp>
      <p:pic>
        <p:nvPicPr>
          <p:cNvPr id="16" name="Image 1" descr="/Users/kimjinsoo/Desktop/safenest-final-report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55648"/>
            <a:ext cx="5422392" cy="181051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263640" y="3657600"/>
            <a:ext cx="5422392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428232" y="369417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28232" y="39319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 · UART / checksum / parser 오류 0 / 0 / 0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263640" y="46085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Thermal 실기기 E2E (레거시 v0.1.0 경로)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6263640" y="490118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428232" y="493776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5, 30.06 s / 138회 측정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428232" y="515721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960120" cy="603504"/>
          </a:xfrm>
          <a:prstGeom prst="roundRect">
            <a:avLst>
              <a:gd name="adj" fmla="val 909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36192" y="1280160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00784" y="1280160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938528"/>
            <a:ext cx="960120" cy="603504"/>
          </a:xfrm>
          <a:prstGeom prst="roundRect">
            <a:avLst>
              <a:gd name="adj" fmla="val 909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38528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36192" y="1938528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00784" y="1938528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596896"/>
            <a:ext cx="960120" cy="603504"/>
          </a:xfrm>
          <a:prstGeom prst="roundRect">
            <a:avLst>
              <a:gd name="adj" fmla="val 9091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596896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36192" y="2596896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00784" y="2596896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55264"/>
            <a:ext cx="960120" cy="603504"/>
          </a:xfrm>
          <a:prstGeom prst="roundRect">
            <a:avLst>
              <a:gd name="adj" fmla="val 9091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55264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36192" y="3255264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00784" y="3255264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13632"/>
            <a:ext cx="960120" cy="603504"/>
          </a:xfrm>
          <a:prstGeom prst="roundRect">
            <a:avLst>
              <a:gd name="adj" fmla="val 909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13632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36192" y="3913632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0784" y="3913632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36792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98448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844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0936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외부 사용이 불가능하고,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9392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을 연결하지 않는 방안을 시도하였으나, 초기화가 I²C 주소를 찾기 전에 RESET 을 LOW 20 ms → HIGH 300 ms 로 토글해야 해서 부팅 시퀀스가 성립하지 않았다. 사람이 버튼을 눌러야 복구되는 장치는 무인 감시에 쓸 수 없다.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55864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83880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816352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81635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07408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55864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183880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4206240"/>
            <a:ext cx="11183112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4206240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0936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79392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07408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07408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파일이 있다는 것이 검증을 통과했다는 뜻은 아니라는 사실이 드러났다.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55864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83880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83880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579729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해결하였고, 검증되지 않은 구성요소를 안전 판단 경로에 올리지 않는다는 원칙을 개발 전 과정에 적용하였다.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ondevice_ai/risk/fallback.py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무효이거나 결측이면 마지막 정상값을 재사용하지 않는다. 네 채널이 모두 무효이면 risk_score 와 risk_level 을 None 으로 두고 system_health 를 FAILED 로 기록한다. 무응답을 정상으로 해석하지 않는다.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유효하지 않은 수치는 0으로 대체하지 않고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없는 이종 센서 증거 융합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ondevice_ai/risk/risk_engine.py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센서를 쓰지 않는다. mmWave 의 미세 움직임, 열화상의 저해상도 열 분포, CO₂ 의 환경 추세, PIR 의 움직임 이벤트가 서로 다른 실패 모드를 상쇄한다. 열화상 80×62 는 개인 식별이 불가능한 해상도이므로, 촬영 장비 반입이 통제되는 보안 구역에도 적용할 수 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7" name="Image 0" descr="/Users/kimjinsoo/Desktop/safenest-final-report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정상으로 표시하지 않고 점검 필요 상태를 출력한다. 표시 계층 검증용 시나리오 화면이며 실센서 측정값이 아니다.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연결되어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1170432"/>
                <a:gridCol w="960120"/>
                <a:gridCol w="914400"/>
                <a:gridCol w="1143000"/>
                <a:gridCol w="1298448"/>
                <a:gridCol w="1417320"/>
                <a:gridCol w="1508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가 다르게 한 지점은 감지 성능보다 증거를 다루는 정책에 있다.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계획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741줄 · 빌드 RAM 9.9 % / Flash 20.5 %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13건 통과 · CRC-16 · 범위 재계산 · 이중 TTL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Pi 5 p50 162.70 / p95 173.90 ms · 유효 97.8 % · fail-closed 6종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639312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66674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877056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하드웨어 없이 실행 가능한 테스트 57건을 직접 실행하여 전부 통과하였다. 데이터 파일이 저장소에 포함되지 않아 실행 대상에서 제외한 항목이 2건 있다.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저장소의 테스트 함수 1,483개는 소스에 정의된 개수이므로 실행 건수와 구분해 표기한다.</a:t>
            </a:r>
            <a:endParaRPr lang="en-US" sz="1000" dirty="0"/>
          </a:p>
        </p:txBody>
      </p:sp>
      <p:pic>
        <p:nvPicPr>
          <p:cNvPr id="13" name="Image 0" descr="/Users/kimjinsoo/Desktop/safenest-final-report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6" name="Image 1" descr="/Users/kimjinsoo/Desktop/safenest-final-report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739896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9" name="Image 2" descr="/Users/kimjinsoo/Desktop/safenest-final-report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2" name="Image 3" descr="/Users/kimjinsoo/Desktop/safenest-final-report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44968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5" name="Image 4" descr="/Users/kimjinsoo/Desktop/safenest-final-report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747504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화면 값은 표시 계층 검증용 시나리오 입력이며 실센서 측정값이 아니다.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16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카메라를 쓰지 않기 때문에 열리는 적용 영역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영상 센서를 전혀 쓰지 않는다. 열화상은 80×62 해상도로 개인을 식별할 수 없고,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촬영 장비 반입이나 영상 저장이 통제되는 공간, 사생활 침해가 문제가 되는 공간에서도 사람의 존재와 상태를 감시할 수 있다.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249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54864" cy="100584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56032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" y="281635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" y="303580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657600"/>
            <a:ext cx="54864" cy="100584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65760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반도체 팹 · 군사 · 연구시설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391363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" y="413308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남는 것이 영상이 아니라 상태값이므로 반출 심사 대상이 되는 화상 데이터를 만들지 않는다. 1인 작업이 잦은 클린룸·시험동에 적용할 수 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54880"/>
            <a:ext cx="54864" cy="10058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475488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501091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" y="523036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SafeNest 는 좌석 거리에 해당하는 0.6~0.9 m 구간에서 재실 검출률 1.000 을 보였으므로 잔류 여부를 센서가 직접 판정한다.</a:t>
            </a:r>
            <a:endParaRPr lang="en-US" sz="1050" dirty="0"/>
          </a:p>
        </p:txBody>
      </p:sp>
      <p:pic>
        <p:nvPicPr>
          <p:cNvPr id="25" name="Image 0" descr="/Users/kimjinsoo/Desktop/safenest-final-report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340864"/>
            <a:ext cx="5422392" cy="3209544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2340864"/>
            <a:ext cx="5422392" cy="320954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614416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Express 5 관제 웹. QR 로 공간을 식별해 밀폐공간 A-01, 통학차량 B-02, 창고 C-03 을 등록·조회한다. 화면에 남는 것은 영상이 아니라 상태값이다.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판매가치 · 시장성 및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판매가치 : 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표시부 하우징 3D 출력 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15,000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5047488"/>
            <a:ext cx="5513832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0840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321808"/>
            <a:ext cx="51480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5개 공간 기준 공간당 260,482원으로, 감시인 1명 월 인건비 2,156,880원의 약 12 % 수준이다.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발전 가능성 : 센서 등급 상향에 따른 적용 범위 확장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0.6~0.9 m 검출률 1.000, 1.2 m 0.814,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 m 에서 lock loss 로 유효 창 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FMCW(예: 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동시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저해상도라 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6263640" y="3566160"/>
            <a:ext cx="54223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상위 등급으로 교체해도 위험도 산출과 fail-closed 정책은 그대로 재사용한다.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263640" y="40599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시장성 : 수요가 법령으로 발생하는 시장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6263640" y="4389120"/>
            <a:ext cx="45720" cy="384048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0" y="438912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644384" y="4389120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제619조가 산소·유해가스 농도 측정과 감시인 배치를 사업주 의무로 규정한다. 최근 10년 질식재해 174건 · 재해자 338명 · 사망 136명.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263640" y="4828032"/>
            <a:ext cx="45720" cy="3840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18"/>
          <p:cNvSpPr/>
          <p:nvPr/>
        </p:nvSpPr>
        <p:spPr>
          <a:xfrm>
            <a:off x="6400800" y="4828032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어린이 통학차량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644384" y="482803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어린이 하차확인장치 작동을 의무화하고 있어 장착 수요가 이미 제도화되어 있다.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263640" y="5266944"/>
            <a:ext cx="45720" cy="384048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5" name="Text 21"/>
          <p:cNvSpPr/>
          <p:nvPr/>
        </p:nvSpPr>
        <p:spPr>
          <a:xfrm>
            <a:off x="6400800" y="5266944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통제구역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644384" y="5266944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대체할 수 없는 구간이다. 영상을 만들지 않는 감시 수단에 대한 대체재가 없다.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263640" y="5760720"/>
            <a:ext cx="54223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시장 모두 임의 도입이 아니라 법령과 보안 규정이 수요를 만든다. 따라서 도입 판단은 성능보다 대체 비용에서 갈리며, 감시인 인건비의 12~21 % 수준인 도입비가 근거가 된다.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02920" y="61264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인건비 : 2026년 최저임금 월 환산액 2,156,880원(고용노동부 고시).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59105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910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74520" y="159105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 · 부품 확보 · 개발환경 구축 · 센서별 드라이버 착수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2024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2024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74520" y="192024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실측. 빈 공간 30분 / 재실 31분 원시 로그 확보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24942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24942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74520" y="224942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및 기기·책임 영역 재편 · CODEOWNERS 정의 · 회귀 테스트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57860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57860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74520" y="257860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검증(9.990 Hz, 오류 0) · 실측 로그 리플레이 벤치마크 12종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2907792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90779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74520" y="2907792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 검증(레거시 v0.1.0 경로) · fail-closed 6종 · Pi 5 지연 실측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323697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23697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74520" y="323697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 · ESP32 → Pi TCP 실경로 확인 · 검증 리포트 작성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02920" y="356616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5661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874520" y="356616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 · 패키징 시점 개발 스냅샷(3f22fb1) 확정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389534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89534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74520" y="389534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 · 표시·경보 계층 상태 6종 확인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02920" y="422452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422452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74520" y="422452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 · 개발완료보고서 최종 정리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02920" y="471830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502920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30936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279392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07408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407408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07408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055864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183880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183880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183880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 올리지 않기로 하였다.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(CODEOWNERS)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devices/mmwave/ · docs/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devices/co2/ · devices/esp32_node/ · integration/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esp32_sensor_node.ino(741줄),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devices/thermal/ · docs/thermal/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 · shared/contracts/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devices/pir/ · 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151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shared/contracts/base_sensor.py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2026-08-24T04:41:16Z</dcterms:created>
  <dcterms:modified xsi:type="dcterms:W3CDTF">2026-08-24T04:41:16Z</dcterms:modified>
</cp:coreProperties>
</file>