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제24회 임베디드SW경진대회 개발완료보고서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956048" y="202996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56048" y="2029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 유 공 모 부 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706624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36758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엣지 AI 기반 밀폐공간·차량 생명감지 및 위험도 자동경보 시스템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727448" y="4407408"/>
            <a:ext cx="2743200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68172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가만있어도SANDI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5157216"/>
            <a:ext cx="10332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경희대학교 전자공학과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5541264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김진수 · 유승하 · 김태균 · 한준우 · 강유나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  밀폐공간 질식재해 현황과 개발 필요성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 통계 (최근 10년, 2014~2023)</a:t>
            </a:r>
            <a:endParaRPr lang="en-US" sz="1450" dirty="0"/>
          </a:p>
        </p:txBody>
      </p:sp>
      <p:pic>
        <p:nvPicPr>
          <p:cNvPr id="10" name="Image 0" descr="/Users/kimjinsoo/Documents/임베디드소프트웨어경진대회/safenest-embedded-competition/final-report/previews/chart_victi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27632"/>
            <a:ext cx="2926080" cy="2514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703320" y="1591056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840480" y="1591056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174건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956048" y="1591056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질식재해 발생 건수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703320" y="2194560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2194560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338명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956048" y="2194560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재해자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2798064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840480" y="2798064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136명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956048" y="2798064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사망자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703320" y="3401568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0" y="3401568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85.7%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4956048" y="3401568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검찰 송치 중대재해 중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산소·유해가스 농도 미측정 상태에서 발생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178040" y="1591056"/>
            <a:ext cx="4507992" cy="2395728"/>
          </a:xfrm>
          <a:prstGeom prst="roundRect">
            <a:avLst>
              <a:gd name="adj" fmla="val 229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60920" y="168249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제도와 현실의 간극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7360920" y="201168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제619조는 밀폐공간 작업 시 산소·유해가스 농도 측정과 감시인 배치를 사업주 의무로 규정한다.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360920" y="265176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중대재해처벌법 확대 적용으로 소규모 사업장까지 예방 설비 수요가 늘었다.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360920" y="329184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상시 배치가 어려운 소규모 사업장이 대다수여서, 사람의 상태까지 자동으로 확인하는 무인 감시 수단이 필요하다.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" y="4206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진행 단계와 현재 감시 수단의 공백</a:t>
            </a:r>
            <a:endParaRPr lang="en-US" sz="1450" dirty="0"/>
          </a:p>
        </p:txBody>
      </p:sp>
      <p:sp>
        <p:nvSpPr>
          <p:cNvPr id="29" name="Shape 26"/>
          <p:cNvSpPr/>
          <p:nvPr/>
        </p:nvSpPr>
        <p:spPr>
          <a:xfrm>
            <a:off x="502920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진입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502920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내부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569464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761488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761488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 발생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2761488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산소결핍·유해가스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828032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020056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020056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정지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020056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스스로 신고 불가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086600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278624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278624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 지연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7278624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부재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345168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9537192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537192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확정</a:t>
            </a:r>
            <a:endParaRPr lang="en-US" sz="1350" dirty="0"/>
          </a:p>
        </p:txBody>
      </p:sp>
      <p:sp>
        <p:nvSpPr>
          <p:cNvPr id="47" name="Text 44"/>
          <p:cNvSpPr/>
          <p:nvPr/>
        </p:nvSpPr>
        <p:spPr>
          <a:xfrm>
            <a:off x="9537192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 골든타임 경과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020056" y="4590288"/>
            <a:ext cx="4297680" cy="365760"/>
          </a:xfrm>
          <a:prstGeom prst="roundRect">
            <a:avLst>
              <a:gd name="adj" fmla="val 15000"/>
            </a:avLst>
          </a:prstGeom>
          <a:solidFill>
            <a:srgbClr val="FDF3E3"/>
          </a:solidFill>
          <a:ln w="15875">
            <a:solidFill>
              <a:srgbClr val="E08A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0056" y="459028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가스 감지기·PIR·CCTV가 사람의 상태를 놓치는 구간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598932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809244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02920" y="592531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이 구간에서 사람의 존재와 상태를 자동으로 확인하고 현장에 경보를 낸다.</a:t>
            </a:r>
            <a:endParaRPr lang="en-US" sz="1350" dirty="0"/>
          </a:p>
        </p:txBody>
      </p:sp>
      <p:sp>
        <p:nvSpPr>
          <p:cNvPr id="53" name="Text 5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출처 : 고용노동부 밀폐공간 질식재해 예방 보도자료(2024), 경향신문 밀폐공간 중대재해 분석 보도(2025). 법령 : 산업안전보건법 제619조.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  기존 감지 방식의 한계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1280160"/>
                <a:gridCol w="1280160"/>
                <a:gridCol w="14173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방식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 불필요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 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공기질만 측정하므로 사람의 존재를 알지 못한다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 판별이 어렵고 사생활 침해 소지가 크다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움직일 때만 감지하여 쓰러진 사람을 놓친다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착용과 충전에 의존하며 미착용 시 무력하다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mmWave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위험을 모르고 비생체 반사와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열화상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히터·기계 열원과 사람의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535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공백의 성격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828032"/>
            <a:ext cx="11183112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여섯 가지 방식은 서로 다른 이유로 한계를 갖지만 공통점이 하나 있다.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값을 내지 못하거나 값이 오래된 상황을 스스로 인지하지 못한다.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
값이 도착하지 않아도 시스템은 아무 신호를 내지 않으며, 이 상태는 정상으로 해석된다. SafeNest 는 서로 다른 성질의 증거를 함께 수집하고 그 증거를 지금 신뢰할 수 있는지까지 판정하여 이 공백에 대응한다.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선정도 이 표에서 도출하였다.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 인체는 mmWave 의 미세 움직임과 열화상의 열 분포로, 환경 위험은 CO₂ 의 농도 추세로, 움직임 이벤트는 PIR 로 덮는다. 한 센서가 놓치는 것을 다른 센서가 보도록 조합하였다.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미충족. 비교는 감지 방식의 범주를 기준으로 하며 특정 제품의 성능을 단정하지 않는다. 유사 제품과의 비교는 15페이지에 별도로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1.3  개발 목표 및 시스템 구성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구성도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UART2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heart_rate_bpm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39696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(80×62)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39696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 + SPI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39696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80×62 uint16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프레임 (UDP)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139696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76472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76472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776472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GPIO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76472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76472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13248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3248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(CO₂)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13248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13248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co2_ppm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13248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2724912"/>
            <a:ext cx="6446520" cy="512064"/>
          </a:xfrm>
          <a:prstGeom prst="roundRect">
            <a:avLst>
              <a:gd name="adj" fmla="val 10714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2724912"/>
            <a:ext cx="6446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</a:t>
            </a:r>
            <a:pPr algn="ctr" indent="0" marL="0"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4센서 수집 · 유효성 판정 · 패킷화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" y="3255264"/>
            <a:ext cx="6446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   SafeNest TCP protocol v1  (16 B 헤더 · Wi-Fi · valid{} 동봉)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3547872"/>
            <a:ext cx="644652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547872"/>
            <a:ext cx="6446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</a:t>
            </a:r>
            <a:pPr algn="ctr" indent="0" marL="0">
              <a:lnSpc>
                <a:spcPts val="1700"/>
              </a:lnSpc>
              <a:buNone/>
            </a:pP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 재검사  →  INT8 TFLite 추론  →  Risk Engine 가중 융합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4242816"/>
            <a:ext cx="6446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NORMAL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02920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&lt; 30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139696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39696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CAUTION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139696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 ≤ R &lt; 60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139696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776472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76472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DANGER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776472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≥ 60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776472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413248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13248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보류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413248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risk = None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13248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02920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GPIO18 · 880 Hz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688336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688336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LCD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688336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6종 표시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73752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73752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 관제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873752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QR 공간코드 · 실시간 대시보드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22376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목표 (중간계획서 기준 초기 목표)</a:t>
            </a:r>
            <a:endParaRPr lang="en-US" sz="1450" dirty="0"/>
          </a:p>
        </p:txBody>
      </p:sp>
      <p:sp>
        <p:nvSpPr>
          <p:cNvPr id="62" name="Text 60"/>
          <p:cNvSpPr/>
          <p:nvPr/>
        </p:nvSpPr>
        <p:spPr>
          <a:xfrm>
            <a:off x="7223760" y="162763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mmWave와 열화상 융합으로 정지 상태의 인체를 비영상 방식으로 감지한다.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23760" y="217627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다중 센서 증거 융합과 온디바이스 AI로 정상·주의·위험 3단계를 자동 판단한다.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223760" y="272491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위험 감지 시 현장 경보·상태 표시·이벤트 기록을 자동 수행한다.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223760" y="327355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Raspberry Pi 단일 노드 MVP를 완성하고 다중 노드로 확장 가능한 구조를 갖춘다.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223760" y="3913632"/>
            <a:ext cx="4462272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06640" y="39867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소스코드 (GitHub)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7406640" y="4389120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06640" y="44439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시연동영상 (YouTube)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406640" y="4700016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223760" y="4937760"/>
            <a:ext cx="4462272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mmWave·열화상·PIR·CO₂ 센서의 서로 다른 정보를 결합하고, 각 값의 유효성과 신선도를 확인한 뒤 위험도를 판단하여 현장 경보와 화면으로 전달하는 임베디드 안전 시스템이다.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표기 원칙 : 검증 수준을 SW 검증 / 실기기 검증 / 실기기 E2E 로 구분해 표기한다. 초기 개발 목표와 달성 결과는 16페이지 구현 결과 표에 증거와 함께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  시스템 계층 구조 및 개발 환경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4계층 역할 분담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0934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47088" y="1609344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 · Thermal-90 · SCD40 · PIR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1956816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5681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수집·검증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47088" y="1956816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Module. 버스 판독, valid·freshness 판정, CRC, 패킷화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2304288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3042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47088" y="2304288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5. 센서 상태 관리, INT8 TFLite 추론, Risk Engine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65176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대응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47088" y="2651760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부저·LCD·Web 관제. 등급별 경보와 상태 표시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307238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환경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01568"/>
          <a:ext cx="11183112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3776472"/>
                <a:gridCol w="1664208"/>
                <a:gridCol w="4169664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기술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대상 기기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저장소 근거 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펌웨어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Arduino (C++) / FreeRTOS 태스크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 Module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ESP32/Arduino/esp32_sensor_node/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수신·표시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 표준 라이브러리 (http.server, socket, struct)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RaspberryPi/LCD/server.py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온디바이스 AI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TensorFlow Lite INT8 추론 / 학습·검증 TensorFlow 2.19.1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RaspberryPi/Ondevice_AI/inference/, 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엔진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+ NumPy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RaspberryPi/Ondevice_AI/risk/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백엔드·웹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FastAPI + Uvicorn, qrcode, SQLite 영속화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RaspberryPi/Runtime/backend/ · RaspberryPi/Web/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계약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추상 인터페이스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 영역 공통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RaspberryPi/Ondevice_AI/sensors/base_sensor.py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3D CAD → STL 4종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FDM 출력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hardware/3d_models/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전체 파일 수 4,316개 (main 8413d2f 기준). 이 중 2,253개는 archive/ 에 보존한 과거 구현과 측정 증거이며, 위 표는 개발 환경에 해당하는 구성만 발췌한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2.2  센서 구성 및 하드웨어 인터페이스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5989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25880"/>
                <a:gridCol w="2103120"/>
                <a:gridCol w="1143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인터페이스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핀 / 주소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수집 값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(mmWave)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UART2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115200 bps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RX GPIO16 / TX GPIO17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호흡수, 심박수,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재실, phase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(CO₂)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100 kHz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SDA 21 / SCL 22 / 0x62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co2_ppm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디지털 입력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13 (20 ms 폴링)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pir_motion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전이 event_id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(MI48xx)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 제어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SPI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0x40 · 0x41 / SCLK18 MISO19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MOSI23 CS27 READY26 RESET25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80×62 uint16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7705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설계상 중요한 점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30352" y="4206240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RESET(GPIO25)을 단독 핀으로 확보해 부팅 시퀀스와 무프레임 자동 재초기화를 구현하였다.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0352" y="4645152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버스 속도는 보드·펌웨어 시험 조건에 따라 다르다. 최종 제출 기준 통합 노드 펌웨어는 SPI 1 MHz · I²C 100 kHz 설정이다.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30352" y="5084064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루프에서 delay()를 사용하지 않고 millis() 주기 판정과 FreeRTOS 네트워크 태스크로 분리하였다.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30352" y="5522976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10개 신호선이 서로 다른 버스에 물리므로 핀 상수를 펌웨어 상단에 모아 배선도와 1:1로 대응시켰다.</a:t>
            </a:r>
            <a:endParaRPr lang="en-US" sz="1200" dirty="0"/>
          </a:p>
        </p:txBody>
      </p:sp>
      <p:pic>
        <p:nvPicPr>
          <p:cNvPr id="15" name="Image 0" descr="/Users/kimjinsoo/Documents/임베디드소프트웨어경진대회/safenest-embedded-competition/final-report/assets/hw_wiring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98448"/>
            <a:ext cx="4965192" cy="400507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720840" y="1298448"/>
            <a:ext cx="4965192" cy="4005072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720840" y="5340096"/>
            <a:ext cx="496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1] ESP32 4센서 결선도. 좌측 표의 핀 배정과 1:1로 대응한다.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핀 상수 PIN_*, THERMAL_ADDRESS_A·B.   코드의 Thermal44Sensor · thermal44_* 는 레거시 식별자이며, 하드웨어 명칭은 Thermal-90 이다.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3.1  파일 구성과 함수별 기능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구성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81635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ESP32/Arduino/esp32_sensor_node/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수집, 유효성 판정, 패킷화 (1,042줄)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RaspberryPi/LCD/server.py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9000 수신, HTTP 8080 API, 상태 6종, 부저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RaspberryPi/Ondevice_AI/sensors/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센서별 어댑터·mock, 공용 계약 base_sensor.py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RaspberryPi/Ondevice_AI/inference/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TFLite Interpreter, 모델 레지스트리, 검증기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RaspberryPi/Ondevice_AI/risk/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가중 융합 위험도, fail-closed 판정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RaspberryPi/Ondevice_AI/integrated_node/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실행 노드, 외부 provider 주입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RaspberryPi/Runtime/backend/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API, QR 공간 식별, 상태 영속화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RaspberryPi/Web/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화면, 방문자 화면, 실시간 대시보드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hardware/3d_models/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 CAD STL 4종 + 설계사양 2종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함수별 기능</a:t>
            </a:r>
            <a:endParaRPr lang="en-US" sz="14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02152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함수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formatNullableFloat()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유효하지 않은 수치를 0으로 대체하지 않고 null 로 직렬화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makePacketHeader()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SNST 16 B 헤더 생성 (magic·version·type·seq·length)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sendThermalUdp()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payload 9,936 B 를 1,200 B 데이터그램 9 조각으로 분할 송신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thermalFrameCrc32()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CRC32 계산, 모든 UDP 조각 헤더에 반복 기록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recoverThermalIfStale()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토글로 센서 재초기화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telemetryTcpTask() /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thermalUdpTask()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TCP·UDP 송신을 FreeRTOS 태스크로 분리해 상호 블로킹 차단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recv_exact()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경계 없음을 전제로 헤더·payload 길이만큼 정확 수신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record_telemetry()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채널별 valid·수신 시각 기록, 5 s 기준 신선도 판정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evaluate_sensor_health_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and_risk()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채널 가중치 재정규화 후 위험도 산출, 전부 무효면 None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logHealth()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Wi-Fi·채널값·프레임수·CRC 오류·UDP 실패·free heap 주기 출력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02920" y="4919472"/>
            <a:ext cx="11183112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" y="497433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오픈소스 및 데이터셋 고지 (대회 규정 제10조 ③)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13232" y="5212080"/>
            <a:ext cx="1076248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Zenodo mmWave vital-sign (DOI 10.5281/zenodo.18599983, CC BY 4.0) · UCI Occupancy Detection (ID 357, CC BY 4.0) · SDT Thermal (TU Wien / Zenodo 4124309)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라이브러리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TensorFlow Lite, Sensirion SCD4x, Seeed mmWave, FastAPI · Uvicorn, gpiozero, NumPy.  위 자산은 학습·추론·통신에 활용하였으며, 센서 통합 펌웨어와 통신 프로토콜, 상태 관리, 위험도 엔진은 팀 자체 구현이다.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저장소는 파일 종류 대신 기기와 책임 영역을 기준으로 분할하였다. 각 디렉터리의 소유자는 .github/CODEOWNERS 에 정의되어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  통신 프로토콜 설계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TCP protocol v1. 모든 정수는 network byte order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 B 고정 헤더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magic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"SNST"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75104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75104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version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75104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975104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72968" y="1792224"/>
            <a:ext cx="169164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72968" y="1847088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type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72968" y="2066544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172968" y="23042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1=JSON, 2=열화상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19472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flags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19472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B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9472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17336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17336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sequence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17336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17336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89520" y="1792224"/>
            <a:ext cx="214884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89520" y="184708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payload_length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0" y="2066544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589520" y="2304288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전송 흐름과 페이로드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502920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9496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판독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673352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01368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37944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 판정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971800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99816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36392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SNST 16 B 헤더 + payload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270248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398264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9000 송신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68696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96712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33288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수신·재검사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949440" y="310896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3108960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스칼라 JSON, 1초 주기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9372600" y="3108960"/>
            <a:ext cx="2313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72600" y="3108960"/>
            <a:ext cx="2313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2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(별도 UDP)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2920" y="3639312"/>
            <a:ext cx="5532120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페이로드 (schema safenest.telemetry.v1)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8580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device_id · boot_id · seq · uptime_ms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 · heart_rate_bpm · co2_ppm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 · pir_event_id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pir_last_transition_monotonic_ms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valid { respiration, heart, co2 } · mmwave{} · health{}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72200" y="3639312"/>
            <a:ext cx="5513832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5508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전송 (12페이지 구조 개선 결과, UDP 5005)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35508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Thermal UDP v1 (magic "SNTU", version 1)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32 B 헤더 : frame id · chunk index · offset ·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length · CRC32 (모든 조각이 프레임 CRC32 반복)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논리 payload 9,936 B = 메타 16 B + 4,960 × uint16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1,200 B 데이터그램 9 조각 분할 · 재조립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2920" y="49194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무효값 처리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502920" y="5248656"/>
            <a:ext cx="76352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void formatNullableFloat(char *output, size_t outputSize, bool valid, float value) {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if (valid &amp;&amp; isfinite(value)) snprintf(output, outputSize, "%.2f", value);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else                          strlcpy(output, "null", outputSize);   // 0으로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275320" y="5248656"/>
            <a:ext cx="34107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 ppm과 측정 실패를 같은 숫자로 보내면 수신 측은 둘을 구분할 수 없다. 값과 valid 플래그를 함께 보내야 판단 계층이 결측을 정상값으로 오해하지 않는다.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프로토콜 정의 L113–124, formatNullableFloat L546–553 · RaspberryPi/LCD/server.py 의 PACKET_HEADER, recv_exact.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  센서 유효성 및 신선도 검사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수신부터 상태 확정까지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수신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5216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recv_exact()로 헤더 16 B를 읽고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payload_length 만큼 정확히 수신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87752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61488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61488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형식 검사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43784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magic·version·flags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 20,000 B 초과 시 종료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0056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0056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검사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02352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safenest.telemetry.v1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valid{} 객체 존재 확인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04888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78624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78624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신선도 검사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60920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: mmWave 5 s / CO₂ 15 s / 열화상 30 s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: 5 s 독립 판정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363456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37192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37192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확정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19488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LIVE · STALE · INVALID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DISCONNECTED · WAITING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무결성 검사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72384"/>
          <a:ext cx="111831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800600"/>
                <a:gridCol w="2331720"/>
                <a:gridCol w="1901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불합격 시 처리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 위치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CRC-16/CCITT-FALSE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poly 0x1021, init 0xFFFF 로 계산해 헤더 기록값과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thermalFrameCrc()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헤더 범위 재계산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min/max 를 픽셀에서 다시 계산해 헤더 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시퀀스 교차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외부 헤더 sequence 와 내부 frame_sequence 일치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죽은 화소 배제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raw 2332–4231 (약 −40~150 ℃) 범위 밖 화소 제외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가능 화소 32개 미만이면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.ino / 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무프레임 자동 복구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LOW 20 ms → HIGH 300 ms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재초기화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recoverThermalIfStale()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502920" y="5138928"/>
            <a:ext cx="1118311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원칙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정해진 시간 안에 갱신되지 않으면 해당 입력을 STALE로 분리하고, 마지막 정상값을 현재 증거로 다시 쓰지 않는다. 유효하지 않은 증거는 0으로 대체하지 않고 판단에서 제외한다.  PIR 은 레벨 판독 입력이라 TTL 을 두지 않고, 상태가 바뀔 때마다 pir_event_id 를 증가시켜 이벤트 누락을 확인한다.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자기진단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는 큐 덮어쓰기·TCP·UDP 송신·CO₂ 판독·열화상 조회 실패 카운터 9종을 telemetry health 블록에 함께 실어 보내고, boot_id 로 재부팅과 재접속을 구분한다.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: 본 문서 작성 시점에 RaspberryPi/LCD 테스트 4건을 실행해 전부 통과하였다. 텔레메트리·열화상 패킷 수신, 스키마 위반 거부, 연결 종료 시 STALE 전환, 최신값 스냅샷이 포함된다.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  온디바이스 AI 모델 구성과 검증 범위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675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51560"/>
                <a:gridCol w="1737360"/>
                <a:gridCol w="640080"/>
                <a:gridCol w="1645920"/>
                <a:gridCol w="5943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입력 → 출력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양자화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범위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인체 자세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thermal_fall_int8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 (Production)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62×80×1 프레임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NOT_HUMAN / HUMAN_NORMAL / HUMAN_FALL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318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· 실제 프레임을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INT8 TFLite 로 관통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co2_occupancy_int8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slope · 습도 · ppm → 2-class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VACANT / OCCUPIED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4.4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공개 데이터셋 기반 오프라인 검증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(실센서 평가 미수행)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(제한)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300샘플 30 s 창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NORMAL / RAPID / APNEA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466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재현 검증에서 클래스 붕괴 확인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 0.3996 · macro-F1 0.19 · recall 0.0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차단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v0.2.0 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동일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22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합성 데이터 468샘플 한정 smoke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실센서 성능 검증 불가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287768" y="193852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87768" y="193852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E2E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287768" y="25786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87768" y="25786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287768" y="321868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87768" y="321868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배포 차단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287768" y="385876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87768" y="385876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합성 한정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298448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8668512" y="1298448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1 · EMPTY_ROOM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화면 삽입 예정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177272" y="1298448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10241280" y="1298448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1 · 온디바이스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NOT_HUMAN 판정 화면 삽입 예정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8604504" y="2615184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3" name="Text 20"/>
          <p:cNvSpPr/>
          <p:nvPr/>
        </p:nvSpPr>
        <p:spPr>
          <a:xfrm>
            <a:off x="8668512" y="2615184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2 · LYING 자세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화면 삽입 예정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10177272" y="2615184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5" name="Text 22"/>
          <p:cNvSpPr/>
          <p:nvPr/>
        </p:nvSpPr>
        <p:spPr>
          <a:xfrm>
            <a:off x="10241280" y="2615184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2 · 온디바이스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HUMAN_FALL 판정 화면 삽입 예정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8604504" y="3968496"/>
            <a:ext cx="308152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2] Thermal-90 실기기 온디바이스 판정 예시 (이미지 삽입 예정). thermal_fall_int8@0.1.0, per-frame min-max. HUMAN_FALL은 LYING 자세 프록시이며 실제 낙상 사건 판정이 아님.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02920" y="4572000"/>
            <a:ext cx="11183112" cy="1298448"/>
          </a:xfrm>
          <a:prstGeom prst="roundRect">
            <a:avLst>
              <a:gd name="adj" fmla="val 4225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13232" y="46268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범위 및 현재 Production 경로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13232" y="4864608"/>
            <a:ext cx="10762488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현재 Production 열화상 경로는 per-frame min-max + thermal_fall_int8 v0.1.0 이다. ℃ 변환 → P1 z-score → FULL_INT8(B5) 경로는 오프라인 진단·호환성 검증용으로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FPN 및 die-temperature drift 보정식은 레거시 시험 코드에서 구현·검증하였으며, Production 추론 경로와 분리해 운용한다.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HUMAN_FALL 은 눕기(LYING) 정적 자세를 기준으로 학습한 자세 분류이며, 열화상이 산출하는 값은 표면 온도이다.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필드 관측에서 열화상 수신·저장·추론 경로의 정상 동작을 확인하였다. NOT_HUMAN 편향은 전처리·도메인 정합 과제로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⑤ mmWave 호흡 신호는 임상 진단 용도가 아니며, v0.2.0 후보 지표는 합성 데이터 기준값이다.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RaspberryPi/Ondevice_AI/models/model_manifest.json · archive/legacy_main_repo/docs/thermal/v5_validation/reports/phase4_6_inference_report.md · research/thermal_ai/ 의 T-B1·T-B5 리포트 및 정적 세션 검토(2026-08-16).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  위험도 산출 알고리즘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111831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( 0.35 · mmWave + 0.35 · CO₂ + 0.15 · PIR + 0.15 · Thermal )      NORMAL R &lt; 30   ·   CAUTION 30 ≤ R &lt; 60   ·   DANGER R ≥ 60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1883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상태에 따른 산출 방식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479024" y="1883664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79024" y="1883664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HEALTHY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12648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유효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4채널 가중 융합으로 위험도를 산출한다.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79392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DEGRADED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89120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 무효 또는 STALE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89120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유효한 센서의 가중치만 재정규화하여 산출한다.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 입력을 마지막 정상값으로 대체하지 않는다.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FAILED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165592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무효 또는 결측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65592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risk_score = None, risk_level = None.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위험도를 산출하지 않으며 정상으로 표시하지 않는다.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351129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 : 열화상이 STALE 로 떨어진 경우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02920" y="3840480"/>
            <a:ext cx="6720840" cy="1389888"/>
          </a:xfrm>
          <a:prstGeom prst="roundRect">
            <a:avLst>
              <a:gd name="adj" fmla="val 394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3931920"/>
            <a:ext cx="63550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0.00 (valid) · CO₂ 1.00 (valid, 1,500 ppm 초과) · PIR 1.00 (valid, 무움직임) · Thermal STALE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재정규화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가중치 합 0.35 + 0.35 + 0.15 = 0.85  →  0.412 / 0.412 / 0.176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(0.00×0.412 + 1.00×0.412 + 1.00×0.176) =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58.82  →  CAUTION</a:t>
            </a:r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system_health = DEGRADED, stale_sensors = [thermal]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406640" y="3840480"/>
            <a:ext cx="427939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3913632"/>
            <a:ext cx="4005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구현 (RaspberryPi/Ondevice_AI/risk/fallback.py)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89520" y="4133088"/>
            <a:ext cx="39319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system_health == "FAILED":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risk_score = None   # 0점으로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risk_level = None   # 등급 자체를 내지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reasons.insert(0,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"ALL_SENSORS_FAULT_OR_MISSING")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5358384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임계값의 근거 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1,500 ppm 은 실내공기질 관리법 시행규칙 별표2가 정한 기계환기 시설의 유지기준과 같은 값이다. 산업안전보건기준에 관한 규칙 제618조의 적정공기 기준(CO₂ 1.5 %, 곧 15,000 ppm 미만)보다 훨씬 낮은 조기경보 지점에 해당한다.  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30 / 60 및 CO₂ 2,000 ppm 은 팀 내부 실험 기준값이며 대외 공인 기준이 아니다.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예시는 정본 fallback.py 를 그대로 실행해 얻은 값이다. 열화상 판정은 다른 센서의 상태·신선도와 함께 최종 위험도를 결정하는 입력으로 쓰인다. 검증 : 위험도 테스트 22건 실행 전부 통과.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3.6  실측 검증 결과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서로 다른 조건에서 채널별로 수행하였으며, 통합 시스템 성능으로 합산하지 않는다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CO₂ 센서 연속 수신 검증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88920" y="1463040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ESP32 192.168.1.16 → Pi 5 192.168.1.44:9000, TCP 실경로, 2026-08-12</a:t>
            </a:r>
            <a:endParaRPr lang="en-US" sz="950" dirty="0"/>
          </a:p>
        </p:txBody>
      </p:sp>
      <p:pic>
        <p:nvPicPr>
          <p:cNvPr id="12" name="Image 0" descr="/Users/kimjinsoo/Documents/임베디드소프트웨어경진대회/safenest-embedded-competition/final-report/previews/chart_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55648"/>
            <a:ext cx="5513832" cy="2267712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14800"/>
          <a:ext cx="5513832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1280160"/>
                <a:gridCol w="1088136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표본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프리플라이트 30초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/ 30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(최초)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277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7.67 %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FAIL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(재측정)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호기 6분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329 / 360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8.61 %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02920" y="5632704"/>
            <a:ext cx="55138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최초 baseline 의 결측은 채우거나 삭제하지 않고 원본 그대로 보존한 뒤 재측정하였다. 호기 세션 최고 1,493 ppm, 종료 634 ppm.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펌웨어 빌드 자원 : RAM 32,356 / 327,680 B (9.9 %), Flash 268,765 / 1,310,720 B (20.5 %).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26364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mmWave 수신 안정성 및 리플레이 결과</a:t>
            </a:r>
            <a:endParaRPr lang="en-US" sz="1450" dirty="0"/>
          </a:p>
        </p:txBody>
      </p:sp>
      <p:pic>
        <p:nvPicPr>
          <p:cNvPr id="16" name="Image 1" descr="/Users/kimjinsoo/Documents/임베디드소프트웨어경진대회/safenest-embedded-competition/final-report/previews/chart_mm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55648"/>
            <a:ext cx="5422392" cy="181051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263640" y="3657600"/>
            <a:ext cx="5422392" cy="841248"/>
          </a:xfrm>
          <a:prstGeom prst="roundRect">
            <a:avLst>
              <a:gd name="adj" fmla="val 6522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428232" y="3694176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UART 수신 (2026-08-08)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428232" y="3931920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9.990 Hz · 1,201 레코드 · 199/199 창 파싱 · 시퀀스 누락 0 · UART / checksum / parser 오류 0 / 0 / 0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263640" y="46085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Thermal 실기기 E2E (레거시 v0.1.0 경로)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6263640" y="4901184"/>
            <a:ext cx="5422392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428232" y="493776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5, 30.06 s / 138회 측정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428232" y="5157216"/>
            <a:ext cx="51206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p50 162.70 ms · p95 173.90 ms · 평균 167.92 ms  (per-frame min-max)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프레임 135 / 138 (97.8 %) · 처리량 4.6 FPS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실기기 PASS (순서위반 · NaN/Inf · 형식오류 · 단선 · 복구 · close 후 read)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4.1  열화상 전송 구조 개선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960120" cy="603504"/>
          </a:xfrm>
          <a:prstGeom prst="roundRect">
            <a:avLst>
              <a:gd name="adj" fmla="val 909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536192" y="1280160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00784" y="1280160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계속 전송하면 1초 주기 telemetry(호흡·심박·CO₂·PIR)가 밀린다. 화면 값이 갱신되지 않거나 stale 로 떨어졌다.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1938528"/>
            <a:ext cx="960120" cy="603504"/>
          </a:xfrm>
          <a:prstGeom prst="roundRect">
            <a:avLst>
              <a:gd name="adj" fmla="val 9091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38528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36192" y="1938528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00784" y="1938528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하나가 9,952 B (메타 16 B + 4,960 × 2 B + 헤더 16 B). 당시 분주비 4로 25 FPS 센서에서 초당 약 6.25 프레임을 요청하여 약 60 KB/s 를 ESP32 Wi-Fi 단일 TCP 연결에 투입하였다. 열화상 write 가 블로킹되면 뒤의 telemetry write 도 함께 지연된다.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596896"/>
            <a:ext cx="960120" cy="603504"/>
          </a:xfrm>
          <a:prstGeom prst="roundRect">
            <a:avLst>
              <a:gd name="adj" fmla="val 9091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596896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36192" y="2596896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00784" y="2596896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TCP write 를 별도 FreeRTOS 태스크로 분리   ② 열화상 큐를 길이 1로 두고 xQueueOverwrite 로 최신 프레임만 유지   ③ 512 B 청크 분할 전송   ④ 분주비 4 → 8 (약 3.125 FPS)   ⑤ SPI 8 MHz → 1 MHz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55264"/>
            <a:ext cx="960120" cy="603504"/>
          </a:xfrm>
          <a:prstGeom prst="roundRect">
            <a:avLst>
              <a:gd name="adj" fmla="val 9091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55264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36192" y="3255264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00784" y="3255264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수집이 네트워크 때문에 멈추는 현상은 사라졌지만, 스트리밍을 켠 상태에서 1초 주기는 여전히 유지되지 않았다. 큐를 줄인 것은 지연을 감춘 것이지 전송량을 줄인 것이 아니었다. 링크에 실리는 총 바이트는 그대로였다.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913632"/>
            <a:ext cx="960120" cy="603504"/>
          </a:xfrm>
          <a:prstGeom prst="roundRect">
            <a:avLst>
              <a:gd name="adj" fmla="val 9091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913632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36192" y="3913632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00784" y="3913632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열화상을 1초 telemetry 와 같은 TCP 연결에 싣지 않고 전송 경로를 분리하였다. 80×62 uint16 프레임(payload 9,936 B)을 SafeNest Thermal UDP v1 로 UDP 5005 에 실어 1,200 B 데이터그램 9 조각으로 나누어 보내고, 32 B 헤더의 frame id · chunk index · offset · length · CRC32 로 조각 단위 무결성을 확인한 뒤 재조립한다.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736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전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1초 telemetry 와 같은 TCP 연결로 초당 약 6.25회 전송 시도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1초 telemetry 주기 붕괴, 화면 값 지연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53912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4736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후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36792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열화상은 UDP 5005 전용 경로로 분리. telemetry TCP 9000 은 1초 주기 유지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프레임은 조각 CRC32 검증 후 재조립하며, 분주비 4로 대역폭을 통제한다.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ESP32/Arduino/esp32_sensor_node/esp32_sensor_node.ino 의 THERMAL_UDP_MAGIC "SNTU" · THERMAL_UDP_VERSION 1 · 32 B 헤더 · 1,200 B 데이터그램 · CRC32 · ESP32/docs/COMMUNICATION_PROTOCOL.md.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4.2  자원·버스·재현성 장애요인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98448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844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GPIO 자원 제약으로 자동 복구 기능이 막힌 문제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0936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의 외부 디지털 핀 11개 중 D6/D7 은 보드 내부에서 MR60BHA2 와 UART 로 묶여 외부 사용이 불가능하고, D3 은 레이더 부트·리셋 회로에, D1 은 온보드 RGB LED 에 물려 있었다.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79392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7408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nRESET 을 연결하지 않는 방안을 시도하였으나, 초기화가 I²C 주소를 찾기 전에 RESET 을 LOW 20 ms → HIGH 300 ms 로 토글해야 해서 부팅 시퀀스가 성립하지 않았다. 사람이 버튼을 눌러야 복구되는 장치는 무인 감시에 쓸 수 없다.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55864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83880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DevKit V1(30-pin)으로 교체하고 10개 신호선을 모두 단독 핀에 배정하였다. RESET(GPIO25) 제어를 확보하여 30초 무프레임 자동 재초기화가 동작한다.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816352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816352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브레드보드 배선이 버스 속도를 견디지 못한 문제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8 MHz, I²C 400 kHz 에서 MI48 과 SCD4x 양쪽에서 판독 누락이 재현되었다. 배선을 다시 꽂고 길이를 줄여도 동일하였다.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07408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07408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속도를 낮추면 프레임 판독 시간이 늘어 요청 주기를 넘길 위험이 있었으므로, 시간 예산 안에 들어오는지를 함께 계산해야 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55864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183880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1 MHz, I²C 100 kHz 로 조정하였다. 1 MHz 에서 한 프레임 판독이 약 81 ms 로, 분주비 8이 요구하는 160 ms 예산 안에 들어가 READOUT_TOO_SLOW 정지가 사라졌다.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4206240"/>
            <a:ext cx="11183112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4206240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학습이 끝난 모델이 재현 검증을 통과하지 못한 문제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0936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호흡 이상 분류 모델 v0.1.0 을 저장소 데이터로 재현 평가한 결과, 468개 표본 전부를 NORMAL 로 예측하는 클래스 붕괴가 확인되었다. 정확도 0.3996, macro-F1 0.19, RAPID·APNEA 재현율 0.0 이다.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79392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07408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07408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아티팩트는 존재하였고 SHA-256 과 텐서 계약도 일치하였다. 모델 파일이 있다는 것이 검증을 통과했다는 뜻은 아니라는 사실이 드러났다.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55864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83880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183880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매니페스트에 deployment_allowed = false 와 차단 사유 CLASS_COLLAPSE_ON_REPOSITORY_NPZ 를 기록해 배포를 차단하고 후보를 다시 세웠다.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579729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사례 모두 증상을 감추는 대신 원인을 제거하는 방향으로 해결하였고, 검증되지 않은 구성요소를 안전 판단 경로에 올리지 않는다는 원칙을 개발 전 과정에 적용하였다.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(핀 상수 · THERMAL_SPI_HZ · Wire.setClock · recoverThermalIfStale) · RaspberryPi/Ondevice_AI/models/model_manifest.json (validation_status: BLOCKED).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5.1  기술적 차별성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316736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16736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88136" y="1316736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" y="1408176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판단 보류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43584" y="1975104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RaspberryPi/Ondevice_AI/risk/fallback.py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68496" y="1371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증거가 무효이거나 결측이면 마지막 정상값을 재사용하지 않는다. 네 채널이 모두 무효이면 risk_score 와 risk_level 을 None 으로 두고 system_health 를 FAILED 로 기록한다. 무응답을 정상으로 해석하지 않는다.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432304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32304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088136" y="2432304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3584" y="2523744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유효성·신선도의 1급 상태 관리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09067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formatNullableFloat() · SensorStore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968496" y="248716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값과 함께 valid 플래그를 전송하며, 유효하지 않은 수치는 0으로 대체하지 않고 null 로 보낸다. ESP32 와 Raspberry Pi 가 신선도를 각각 독립적으로 판정하고, STALE 입력은 판단에서 제외한다.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547872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54787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088136" y="3547872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43584" y="3639312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 없는 이종 센서 증거 융합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43584" y="420624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RaspberryPi/Ondevice_AI/risk/risk_engine.py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68496" y="360273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 센서를 쓰지 않는다. mmWave 의 미세 움직임, 열화상의 저해상도 열 분포, CO₂ 의 환경 추세, PIR 의 움직임 이벤트가 서로 다른 실패 모드를 상쇄한다. 열화상 80×62 는 개인 식별이 불가능한 해상도이므로, 촬영 장비 반입이 통제되는 보안 구역에도 적용할 수 있다.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791456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791456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88136" y="4791456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43584" y="479145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등급에 따른 배포 통제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639312" y="4791456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모델마다 검증 범위와 배포 허용 여부를 매니페스트에 기록한다. 재현 검증에 실패한 모델은 실제로 배포가 차단되었다.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5486400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5486400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088136" y="5486400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43584" y="5486400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 무결성과 자동 복구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639312" y="5486400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CRC-16/CCITT-FALSE 검사, 헤더 범위 재계산, 시퀀스 교차 확인을 거치며 30초 무프레임 시 GPIO RESET 으로 센서를 재초기화한다.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17536" y="1691640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7536" y="1691640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17536" y="28072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17536" y="28072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7536" y="39227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17536" y="39227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17536" y="495604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7536" y="495604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 검증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17536" y="5650992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17536" y="5650992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검증</a:t>
            </a:r>
            <a:endParaRPr lang="en-US" sz="1000" dirty="0"/>
          </a:p>
        </p:txBody>
      </p:sp>
      <p:pic>
        <p:nvPicPr>
          <p:cNvPr id="47" name="Image 0" descr="/Users/kimjinsoo/Documents/임베디드소프트웨어경진대회/safenest-embedded-competition/final-report/assets/ui_lcd_6_fai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316736"/>
            <a:ext cx="2633472" cy="1517904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9052560" y="1316736"/>
            <a:ext cx="2633472" cy="151790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052560" y="2889504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3] 전 센서 무효 시 표시 화면. 정상으로 표시하지 않고 점검 필요 상태를 출력한다. 표시 계층 검증용 시나리오 화면이며 실센서 측정값이 아니다.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항목은 03_CLAIM_EVIDENCE_LEDGER 의 근거 파일과 1:1로 연결되어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5.2  기존 방식 및 유사 사례 비교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1170432"/>
                <a:gridCol w="960120"/>
                <a:gridCol w="914400"/>
                <a:gridCol w="1143000"/>
                <a:gridCol w="1298448"/>
                <a:gridCol w="1417320"/>
                <a:gridCol w="150876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비교 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Vayyar Care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 IWR6843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SafeNest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 (비영상)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인체에 대한 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증거 교차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무효·결측 데이터 인지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 부재 시 판단 보류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22192"/>
            <a:ext cx="111831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가 다르게 한 지점은 감지 성능보다 증거를 다루는 정책에 있다.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조사한 세 사례 모두 공개 자료에서 무효·결측 인지와 판단 보류 정책을 확인할 수 없었다. SafeNest 는 이 두 축을 설계 요구사항으로 명시하고 구현·검증하였다.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4389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Vayyar Care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제품)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26080" y="4389120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90672" y="4389120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 GHz 4D 이미징 레이더 기반 낙상 감지 장치. 카메라·마이크·웨어러블을 쓰지 않고 1대가 약 16 m²를 감시하며 낙상을 3단계로 구분한다. 환경 가스 감시 기능은 제품 설명에서 확인되지 않는다.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" y="48828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IWR6843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부품)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926080" y="4882896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90672" y="4882896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60~64 GHz FMCW 단일칩 mmWave 센서. 재실 감지와 생체신호 검출 레퍼런스 디자인이 공개되어 있다. 센서 단위 부품이므로 환경 센서 융합과 판단 보류 정책은 범위 밖이다.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2920" y="537667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학술 연구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(arXiv 2403.05634, 2024)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926080" y="5376672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090672" y="5376672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mmWave 레이더 3대로 다중 인체 추적과 낙상 감지를 수행하여 정확도 96.3 %를 보고하였다. 단일 모달리티 실험이며 센서 무효·결측 시의 처리 정책은 다루지 않는다.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 · 확인 불가는 공개 자료에서 판정 근거를 찾지 못한 항목이다.  출처 : vayyar.com/care-pages/how, ti.com/tool/IWR6843ISK, arXiv:2403.05634.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5.3  구현 결과 및 검증 수준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841248"/>
                <a:gridCol w="1353312"/>
                <a:gridCol w="4123944"/>
                <a:gridCol w="23774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수준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확장 계획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4센서 통합 노드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 741줄 · RAM 9.9 % / Flash 20.5 % · 자기진단 9종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확장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v1 송·수신 및 유효성 검사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수신기 테스트 13건 통과 · CRC-16 · 범위 재계산 · 이중 TTL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장시간 운용 모니터링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Risk Engine · fail-closed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테스트 22건 실행 통과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현장 데이터 기반 임계값 조정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9.990 Hz · 1,201 레코드 · 오류 0 · 리플레이 MAE 0.270 rpm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 운용 데이터 축적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 4세션 · 재측정 결측 0 % · 호기 최고 1,493 ppm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 계약 고도화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· Pi 5 p50 162.70 / p95 173.90 ms · 유효 97.8 % · fail-closed 6종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도메인 정합 데이터 확대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Web · LCD · 부저 · 외함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 + 실물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 6종 표시·경보 확인 · 하우징 2종 출력·조립 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 다중 노드 대응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3639312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666744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테스트 실행 기준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3877056"/>
            <a:ext cx="1076248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하드웨어 없이 실행 가능한 테스트 57건을 직접 실행하여 전부 통과하였다. 데이터 파일이 저장소에 포함되지 않아 실행 대상에서 제외한 항목이 2건 있다.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저장소의 테스트 함수 1,483개는 소스에 정의된 개수이므로 실행 건수와 구분해 표기한다.</a:t>
            </a:r>
            <a:endParaRPr lang="en-US" sz="1000" dirty="0"/>
          </a:p>
        </p:txBody>
      </p:sp>
      <p:pic>
        <p:nvPicPr>
          <p:cNvPr id="13" name="Image 0" descr="/Users/kimjinsoo/Documents/임베디드소프트웨어경진대회/safenest-embedded-competition/final-report/assets/hw_product_full_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352544"/>
            <a:ext cx="2816352" cy="12801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352544"/>
            <a:ext cx="2816352" cy="128016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5687568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4] 완성품. 좌측 표시부, 우측 센서 노드. 하우징 2종은 자체 설계 STL 출력물이다.</a:t>
            </a:r>
            <a:endParaRPr lang="en-US" sz="900" dirty="0"/>
          </a:p>
        </p:txBody>
      </p:sp>
      <p:pic>
        <p:nvPicPr>
          <p:cNvPr id="16" name="Image 1" descr="/Users/kimjinsoo/Documents/임베디드소프트웨어경진대회/safenest-embedded-competition/final-report/assets/ui_lcd_2_normal_occupi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4352544"/>
            <a:ext cx="1883664" cy="10972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3739896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739896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· 재실</a:t>
            </a:r>
            <a:endParaRPr lang="en-US" sz="1050" dirty="0"/>
          </a:p>
        </p:txBody>
      </p:sp>
      <p:pic>
        <p:nvPicPr>
          <p:cNvPr id="19" name="Image 2" descr="/Users/kimjinsoo/Documents/임베디드소프트웨어경진대회/safenest-embedded-competition/final-report/assets/ui_lcd_3_cautio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4352544"/>
            <a:ext cx="1883664" cy="10972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742432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· CO₂ 높음</a:t>
            </a:r>
            <a:endParaRPr lang="en-US" sz="1050" dirty="0"/>
          </a:p>
        </p:txBody>
      </p:sp>
      <p:pic>
        <p:nvPicPr>
          <p:cNvPr id="22" name="Image 3" descr="/Users/kimjinsoo/Documents/임베디드소프트웨어경진대회/safenest-embedded-competition/final-report/assets/ui_lcd_4_dang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352544"/>
            <a:ext cx="1883664" cy="109728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7744968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7744968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 · 호흡 이상</a:t>
            </a:r>
            <a:endParaRPr lang="en-US" sz="1050" dirty="0"/>
          </a:p>
        </p:txBody>
      </p:sp>
      <p:pic>
        <p:nvPicPr>
          <p:cNvPr id="25" name="Image 4" descr="/Users/kimjinsoo/Documents/임베디드소프트웨어경진대회/safenest-embedded-competition/final-report/assets/ui_lcd_5_emergency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4" y="4352544"/>
            <a:ext cx="1883664" cy="109728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747504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9747504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긴급 · 복합 위험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3739896" y="5705856"/>
            <a:ext cx="79461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5] 위험도 등급별 표시·경보 화면. 주의는 화면 경고, 위험부터는 부저 경보가 함께 출력된다. 화면 값은 표시 계층 검증용 시나리오 입력이며 실센서 측정값이 아니다.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수준 : SW 검증은 소프트웨어 테스트 통과, 실기기 검증은 실제 센서·보드에서 확인, 실기기 E2E 는 실센서부터 추론까지 관통을 뜻한다.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6.1  적용 분야 및 기대효과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31673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카메라를 쓰지 않기 때문에 열리는 적용 영역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3232" y="1591056"/>
            <a:ext cx="107624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영상 센서를 전혀 쓰지 않는다. 열화상은 80×62 해상도로 개인을 식별할 수 없고, mmWave·CO₂·PIR 은 형상을 남기지 않는다.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촬영 장비 반입이나 영상 저장이 통제되는 공간, 사생활 침해가 문제가 되는 공간에서도 사람의 존재와 상태를 감시할 수 있다.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249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분야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2560320"/>
            <a:ext cx="54864" cy="100584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56032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밀폐공간 무인 감시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" y="281635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시행규칙 별표18이 정한 맨홀·정화조·집수정 등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6656" y="303580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제619조가 산소·유해가스 농도 측정과 감시인 배치를 사업주 의무로 정하지만 감시인 상시 배치가 어려운 소규모 사업장이 대다수다. 공기질과 사람의 상태를 함께 확인해 가스 감지기 단독 운용의 공백을 메운다.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657600"/>
            <a:ext cx="54864" cy="100584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65760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보안 통제구역 · 반도체 팹 · 군사 · 연구시설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6656" y="391363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인원 상태를 볼 수 없는 구역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6656" y="413308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규정을 건드리지 않고 재실·이상 상태만 감시한다. 남는 것이 영상이 아니라 상태값이므로 반출 심사 대상이 되는 화상 데이터를 만들지 않는다. 1인 작업이 잦은 클린룸·시험동에 적용할 수 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754880"/>
            <a:ext cx="54864" cy="10058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475488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어린이 통학차량 잔류 감지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6656" y="501091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하차확인장치 작동을 의무화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" y="523036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현행 장치는 운전자가 버튼을 눌러 확인하는 방식이라 사람의 행위에 의존한다. SafeNest 는 좌석 거리에 해당하는 0.6~0.9 m 구간에서 재실 검출률 1.000 을 보였으므로 잔류 여부를 센서가 직접 판정한다.</a:t>
            </a:r>
            <a:endParaRPr lang="en-US" sz="1050" dirty="0"/>
          </a:p>
        </p:txBody>
      </p:sp>
      <p:pic>
        <p:nvPicPr>
          <p:cNvPr id="25" name="Image 0" descr="/Users/kimjinsoo/Documents/임베디드소프트웨어경진대회/safenest-embedded-competition/final-report/assets/ui_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340864"/>
            <a:ext cx="5422392" cy="3209544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2340864"/>
            <a:ext cx="5422392" cy="320954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614416"/>
            <a:ext cx="54223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6] 관제 웹 화면. QR 로 공간을 식별해 밀폐공간 A-01, 통학차량 B-02, 창고 C-03 을 등록·조회한다. 화면에 남는 것은 영상이 아니라 상태값이다.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산업안전보건법 제619조 · 시행규칙 별표18 · 도로교통법 제53조 제4항·제5항. 감지 거리 : archive/legacy_main_repo/devices/mmwave/validation_results/replay_v5/benchmark_summary.csv.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6.2  판매가치 · 시장성 및 발전 가능성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판매가치 : 도입 비용 (실구매 결제액 기준)</a:t>
            </a:r>
            <a:endParaRPr lang="en-US" sz="14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3300984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구성품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금액(원)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열화상 모듈 (Waveshare 80×62 · 90° FOV)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104,223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mmWave 센서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56,013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 CO₂ 센서 · PIR 인체감지 센서 (HC-SR501)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19,894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DevKit V1 · 실리콘 점퍼 배선 · 하우징 3D 출력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33,578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213,708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8GB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178,170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7인치 IPS 정전식 터치 LCD 1024×600 · 피에조 부저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40,700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표시부 하우징 3D 출력 (PLA)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15,000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233,870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1개 공간 1식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447,578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2920" y="5047488"/>
            <a:ext cx="5513832" cy="1024128"/>
          </a:xfrm>
          <a:prstGeom prst="roundRect">
            <a:avLst>
              <a:gd name="adj" fmla="val 5357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50840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공간을 늘릴 때 추가되는 비용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85800" y="5321808"/>
            <a:ext cx="514807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관제 노드 1대가 다수의 감지 노드를 수용하므로, 감시 공간을 늘릴 때 드는 추가 비용은 감지 노드 213,708원뿐이다.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1개 공간 447,578원 · 3개 874,994원(공간당 291,665원) · 5개 1,302,410원(공간당 260,482원)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5개 공간 기준 공간당 260,482원으로, 감시인 1명 월 인건비 2,156,880원의 약 12 % 수준이다.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발전 가능성 : 센서 등급 상향에 따른 적용 범위 확장</a:t>
            </a:r>
            <a:endParaRPr lang="en-US" sz="14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841248"/>
                <a:gridCol w="2331720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현재 구성의 실측 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상위 센서 채택 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단일 안테나.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0.6~0.9 m 검출률 1.000, 1.2 m 0.814,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1.5 m 에서 lock loss 로 유효 창 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송수신 FMCW(예: TI IWR6843)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검출 거리와 다중 인원 동시 추적 범위 확대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Waveshare 80×62 · 90° FOV.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저해상도라 원거리 인체 형상 분리가 어렵다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160×120 이상 LWIR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원거리 자세 분류와 다인 분리 가능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적용 공간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소형 밀폐공간 · 차량 실내 등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노드로 덮이는 범위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창고·작업장·클린룸 등 중대형 공간.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노드 분산 배치와 상위 센서를 함께 적용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6263640" y="3566160"/>
            <a:ext cx="54223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계층이 센서에 독립적인 계약(base_sensor · InferenceResult)으로 분리되어 있어, 센서를 상위 등급으로 교체해도 위험도 산출과 fail-closed 정책은 그대로 재사용한다.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263640" y="405993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시장성 : 수요가 법령으로 발생하는 시장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6263640" y="4389120"/>
            <a:ext cx="45720" cy="384048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9" name="Text 15"/>
          <p:cNvSpPr/>
          <p:nvPr/>
        </p:nvSpPr>
        <p:spPr>
          <a:xfrm>
            <a:off x="6400800" y="4389120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7644384" y="4389120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제619조가 산소·유해가스 농도 측정과 감시인 배치를 사업주 의무로 규정한다. 최근 10년 질식재해 174건 · 재해자 338명 · 사망 136명.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263640" y="4828032"/>
            <a:ext cx="45720" cy="38404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18"/>
          <p:cNvSpPr/>
          <p:nvPr/>
        </p:nvSpPr>
        <p:spPr>
          <a:xfrm>
            <a:off x="6400800" y="4828032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어린이 통학차량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7644384" y="4828032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어린이 하차확인장치 작동을 의무화하고 있어 장착 수요가 이미 제도화되어 있다.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263640" y="5266944"/>
            <a:ext cx="45720" cy="384048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5" name="Text 21"/>
          <p:cNvSpPr/>
          <p:nvPr/>
        </p:nvSpPr>
        <p:spPr>
          <a:xfrm>
            <a:off x="6400800" y="5266944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통제구역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644384" y="5266944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대체할 수 없는 구간이다. 영상을 만들지 않는 감시 수단에 대한 대체재가 없다.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263640" y="5760720"/>
            <a:ext cx="54223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시장 모두 임의 도입이 아니라 법령과 보안 규정이 수요를 만든다. 따라서 도입 판단은 성능보다 대체 비용에서 갈리며, 감시인 인건비의 12~21 % 수준인 도입비가 근거가 된다.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02920" y="6126480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단가 : 2026-07-02 실구매 결제액(열화상·mmWave·CO₂·LCD·배선) · 국내 유통가(Pi 5·ESP32) · 통상가 추정(PIR·부저·3D 출력). 인건비 : 2026년 최저임금 월 환산액 2,156,880원(고용노동부 고시).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7.1  개발 일정 및 주요 설계 변경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수행 일정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591056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9105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74520" y="1591056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요구사항 정의 · 시스템 설계 · 부품 확보 · 개발환경 구축 · 센서별 드라이버 착수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192024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2024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74520" y="1920240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장시간 실측. 빈 공간 30분 / 재실 31분 원시 로그 확보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2249424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24942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8/02–8/03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74520" y="2249424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통합 및 기기·책임 영역 재편 · CODEOWNERS 정의 · 회귀 테스트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578608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57860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8/08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74520" y="2578608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라이브 검증(9.990 Hz, 오류 0) · 실측 로그 리플레이 벤치마크 12종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2907792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90779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74520" y="2907792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 실기기 E2E 검증(레거시 v0.1.0 경로) · fail-closed 6종 · Pi 5 지연 실측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3236976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23697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74520" y="3236976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 실기기 4세션 측정 · ESP32 → Pi TCP 실경로 확인 · 검증 리포트 작성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02920" y="356616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56616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8/16–8/21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874520" y="3566160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물리 측정 정합 감사 · 패키징 시점 개발 스냅샷(3f22fb1) 확정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02920" y="3895344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89534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74520" y="3895344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하우징 STL 출력·조립 완료 · 표시·경보 계층 상태 6종 확인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02920" y="4224528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422452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874520" y="4224528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운용 점검 · 개발완료보고서 최종 정리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02920" y="471830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과정에서 내린 주요 설계 변경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502920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MCU 교체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30936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→ ESP32 DevKit V1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 자원 부족으로 열화상 RESET 제어가 불가능해 자동 복구 요구사항을 충족할 수 없었다.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279392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07408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전송 구조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4407408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스트리밍 → 전용 UDP 경로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07408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TCP 연결에 9,952 B 패킷을 초당 약 6.25회 실으면서 1초 telemetry 주기가 무너졌다.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055864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183880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배포 통제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183880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v0.1.0 배포 차단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183880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재현 검증에서 클래스 붕괴를 확인하여 검증 실패 모델을 안전 경로에 올리지 않기로 하였다.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일정은 저장소 커밋 이력과 검증 문서의 실제 일자를 기준으로 작성하였으며, 계획서의 예정 간트를 그대로 옮기지 않았다.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7.2  업무 분장 및 협업 구조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31520"/>
                <a:gridCol w="3063240"/>
                <a:gridCol w="2816352"/>
                <a:gridCol w="3611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 업무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책임 영역 (저장소 경로)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주요 산출물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김진수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펌웨어·어댑터·실측, 저장소 구조 통합, 문서 총괄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ESP32/reference/mmwave_platformio/ · archive/ · .github/ · 저장소 전체 기본 리뷰어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 실측 로그 30분·31분, 라이브 검증(9.990 Hz), 리플레이 벤치 12종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유승하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CO₂(SCD40) 연동·실측, ESP32 4센서 노드 펌웨어, Pi LCD·부저 서버, 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 · RaspberryPi/Runtime/ · RaspberryPi/Web/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esp32_sensor_node.ino(1,042줄), CO₂ 실측 4세션·검증 리포트, TCP v1 송·수신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김태균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드라이버·프레임 파서·전처리, 열화상 온디바이스 AI 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RaspberryPi/Ondevice_AI/sensors/thermal44/ · research/thermal_ai/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E2E 관통, fail-closed 6종, Pi 5 지연 실측(p95 173.9 ms)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한준우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데이터셋 출처·분할, 모델 학습·비교·재현, Pi AI 준비, 위험 판단 연계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3종 매니페스트, 재현 검증·클래스 붕괴 발견 및 배포 차단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강유나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어댑터, 3D 하우징 CAD 설계 및 출력, LCD·Web 초기 골격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 · RaspberryPi/Ondevice_AI/sensors/pir/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STL 4종 + 설계사양 2종, 하우징 출력·조립, PIR 어댑터, LCD 초기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151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경계를 고정한 협업 인터페이스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448056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4480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계약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788920" y="44805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RaspberryPi/Ondevice_AI/sensors/base_sensor.py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60920" y="448056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담당자 ↔ AI 담당자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4773168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47731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텔레메트리 스키마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788920" y="47731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safenest.telemetry.v1 (valid 블록 포함)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773168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수신 서버 담당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5065776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50657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규격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788920" y="50657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TCP protocol v1 (16 B 헤더)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360920" y="5065776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Pi 수신 담당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5358384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53583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추론 결과 계약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788920" y="535838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InferenceResult / SensorState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360920" y="5358384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담당 ↔ 위험도 담당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5650992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" y="56509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출력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788920" y="56509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SafeNestRiskOutput (schema 5.0)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60920" y="5650992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담당 ↔ 표시·경보 담당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표기는 저장소 CODEOWNERS 와 실제 산출물로 확인한 범위만 기재하였으며, 기여도를 인위적으로 균등화하지 않았다.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경희대학교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2026ESWContest 자유공모 가만있어도SANDI 개발완료보고서</dc:title>
  <dc:subject>PptxGenJS Presentation</dc:subject>
  <dc:creator>가만있어도SANDI</dc:creator>
  <cp:lastModifiedBy>가만있어도SANDI</cp:lastModifiedBy>
  <cp:revision>1</cp:revision>
  <dcterms:created xsi:type="dcterms:W3CDTF">2026-08-24T23:59:48Z</dcterms:created>
  <dcterms:modified xsi:type="dcterms:W3CDTF">2026-08-24T23:59:48Z</dcterms:modified>
</cp:coreProperties>
</file>