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66420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6420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미사용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8172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증거 융합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699248" y="4224528"/>
            <a:ext cx="28346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9248" y="42245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통제구역 적용 가능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27448" y="4791456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5504688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5870448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강유나 · 김태균 · 유승하 · 한준우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법정 산소·유해가스 측정 설비와 감시인을 대체하지 않는다. 이 구간에서 사람의 존재와 상태를 보조적으로 확인해 경보를 낸다.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16966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" y="453542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" y="490118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" y="526694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" y="563270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는 환기 상태와 재실 추세를 보는 지표이며, 산소·유해가스 법정 측정을 대신하지 않는다.</a:t>
            </a:r>
            <a:endParaRPr lang="en-US" sz="1100" dirty="0"/>
          </a:p>
        </p:txBody>
      </p:sp>
      <p:pic>
        <p:nvPicPr>
          <p:cNvPr id="16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 (센서 → MCU 계층)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대조.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→ Pi 의 UDP 조각 재조립은 별도 계층인 프레임 CRC32 로 확인한다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데이터는 검증 범위 밖)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3081528" cy="3054096"/>
          </a:xfrm>
          <a:prstGeom prst="roundRect">
            <a:avLst>
              <a:gd name="adj" fmla="val 179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59952" y="1371600"/>
            <a:ext cx="2770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와 안전 판단의 역할 분리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759952" y="1664208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Edge AI 가 하는 일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59952" y="1883664"/>
            <a:ext cx="27706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열화상 인체·자세 특징 판단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CO₂ 재실 보조 분석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검증을 통과한 모델에 한해 증거 생성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59952" y="2414016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판단 계층이 하는 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59952" y="2633472"/>
            <a:ext cx="2770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유효성·신선도 검사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Sensor Health 판정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 증거만 가중치 재정규화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전부 무효면 판단 보류 (fail-closed)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최종 위험도와 경보 등급 결정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686800" y="3566160"/>
            <a:ext cx="29260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796528" y="3621024"/>
            <a:ext cx="27066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출력도 센서 값과 같은 하나의 증거로 다룬다. AI 또는 센서가 신뢰할 수 없는 상태이면 그 입력을 최종 위험 판단에서 제외한다.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389888"/>
          </a:xfrm>
          <a:prstGeom prst="roundRect">
            <a:avLst>
              <a:gd name="adj" fmla="val 3947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46320"/>
            <a:ext cx="1076248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Production 열화상 경로는 per-frame min-max 전처리와 thermal_fall_int8 v0.1.0 추론으로 구성한다. ℃ 변환 → P1 z-score → FULL_INT8(B5) 는 오프라인 진단·호환성 검증 경로이며 제품 경로와 분리해 관리한다.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오프라인 검증 경로에서 구현·확인하였으며 Production 추론 경로와 분리해 운용한다.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9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30352"/>
          </a:xfrm>
          <a:prstGeom prst="roundRect">
            <a:avLst>
              <a:gd name="adj" fmla="val 1034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65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가중치를 이렇게 나눈 이유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653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653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76272"/>
            <a:ext cx="2743200" cy="548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  0.35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호흡 정지 · 직접 징후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30936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질식은 호흡이 멎으면서 진행된다. 성인 정상 호흡수 12~20회/분을 벗어난 상태가 2초 이상 이어지면 무호흡으로 확정한다. 사람의 상태를 직접 재는 유일한 생체 채널이다.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10128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28" y="2176272"/>
            <a:ext cx="2743200" cy="54864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1" name="Text 19"/>
          <p:cNvSpPr/>
          <p:nvPr/>
        </p:nvSpPr>
        <p:spPr>
          <a:xfrm>
            <a:off x="3438144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  0.35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438144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결핍 환경 · 원인 지표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438144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질식은 공기 조성 변화가 먼저 나타난다. 검찰 송치 중대재해의 85.7 %가 농도 미측정 상태에서 발생하였다. 원인 단계에서 경보를 낼 수 있는 채널이다.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17336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17336" y="2176272"/>
            <a:ext cx="274320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6" name="Text 24"/>
          <p:cNvSpPr/>
          <p:nvPr/>
        </p:nvSpPr>
        <p:spPr>
          <a:xfrm>
            <a:off x="6245352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   0.15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45352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· 정황 증거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45352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움직임이 없다는 사실만으로 위험을 단정할 수 없다. 정밀 작업이나 대기 중에도 15초 이상 정지가 흔하다. 위양성이 커 보조 가중치로 제한하였다.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924544" y="2176272"/>
            <a:ext cx="2743200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24544" y="2176272"/>
            <a:ext cx="274320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52560" y="225856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   0.15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052560" y="2459736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 · 정황 증거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052560" y="2651760"/>
            <a:ext cx="248716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쓰러진 자세는 강한 신호이나 80×62 해상도에서 자세 판별은 각도와 거리에 좌우된다. 열화상이 내는 값은 표면 온도이므로 보조 가중치로 제한하였다.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3364992"/>
            <a:ext cx="11183112" cy="420624"/>
          </a:xfrm>
          <a:prstGeom prst="roundRect">
            <a:avLst>
              <a:gd name="adj" fmla="val 13043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3364992"/>
            <a:ext cx="10817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채널이 최대치를 내도 R 은 35 에 그쳐 DANGER 60 에 닿지 못한다. 두 채널 이상이 동시에 이상을 가리켜야 위험 등급이 성립하며, 무호흡과 낙상(신뢰도 0.8 이상)이 함께 확인되면 즉시 100 으로 승격한다.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3858768"/>
            <a:ext cx="352958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858768"/>
            <a:ext cx="64008" cy="5852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8" name="Text 36"/>
          <p:cNvSpPr/>
          <p:nvPr/>
        </p:nvSpPr>
        <p:spPr>
          <a:xfrm>
            <a:off x="667512" y="3886200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   ·   모든 센서 유효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67512" y="4096512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79392" y="3858768"/>
            <a:ext cx="352958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9392" y="3858768"/>
            <a:ext cx="64008" cy="58521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42" name="Text 40"/>
          <p:cNvSpPr/>
          <p:nvPr/>
        </p:nvSpPr>
        <p:spPr>
          <a:xfrm>
            <a:off x="4443984" y="3886200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   ·   일부 무효 또는 STALE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443984" y="4096512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재정규화한다. 무효 입력은 마지막 정상값 대체 없이 그대로 제외한다.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55864" y="3858768"/>
            <a:ext cx="352958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55864" y="3858768"/>
            <a:ext cx="64008" cy="58521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6" name="Text 44"/>
          <p:cNvSpPr/>
          <p:nvPr/>
        </p:nvSpPr>
        <p:spPr>
          <a:xfrm>
            <a:off x="8220456" y="3886200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   ·   전부 무효 또는 결측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20456" y="4096512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와 risk_level 을 None 으로 두고 점검 필요 상태로 표시한다.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502920" y="4828032"/>
            <a:ext cx="6720840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4892040"/>
            <a:ext cx="6355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406640" y="4828032"/>
            <a:ext cx="427939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89520" y="4873752"/>
            <a:ext cx="40050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589520" y="5074920"/>
            <a:ext cx="39319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 대체 금지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산출 금지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2920" y="601675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 : CO₂ 1,500 ppm 은 실내공기질 관리법 시행규칙 별표2 의 기계환기 유지기준과 같은 값으로, 산업안전보건기준에 관한 규칙 제618조 적정공기 기준(CO₂ 1.5 %)보다 낮은 조기경보 지점이다. 위험도 30 / 60 은 팀 내부 실험 기준값이며 대외 공인 기준은 아니다.  계산 예시는 정본 fallback.py 를 그대로 실행해 얻은 값이고, 위험도 테스트 22건은 실행 전부 통과하였다.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채널별로 서로 다른 조건에서 수행한 결과이며, 통합 시스템 성능 지표와는 구분해 제시한다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(Production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530352"/>
          </a:xfrm>
          <a:prstGeom prst="roundRect">
            <a:avLst>
              <a:gd name="adj" fmla="val 103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55648" y="1280160"/>
            <a:ext cx="97109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865376"/>
            <a:ext cx="960120" cy="713232"/>
          </a:xfrm>
          <a:prstGeom prst="roundRect">
            <a:avLst>
              <a:gd name="adj" fmla="val 7692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65376"/>
            <a:ext cx="960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865376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55648" y="1865376"/>
            <a:ext cx="9710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633472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633472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633472"/>
            <a:ext cx="10149840" cy="54864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55648" y="2633472"/>
            <a:ext cx="97109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36976"/>
            <a:ext cx="960120" cy="676656"/>
          </a:xfrm>
          <a:prstGeom prst="roundRect">
            <a:avLst>
              <a:gd name="adj" fmla="val 8108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36976"/>
            <a:ext cx="9601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36976"/>
            <a:ext cx="1014984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55648" y="3236976"/>
            <a:ext cx="971092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68496"/>
            <a:ext cx="960120" cy="841248"/>
          </a:xfrm>
          <a:prstGeom prst="roundRect">
            <a:avLst>
              <a:gd name="adj" fmla="val 6522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68496"/>
            <a:ext cx="960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68496"/>
            <a:ext cx="10149840" cy="841248"/>
          </a:xfrm>
          <a:prstGeom prst="roundRect">
            <a:avLst>
              <a:gd name="adj" fmla="val 6522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55648" y="3968496"/>
            <a:ext cx="97109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901184"/>
            <a:ext cx="5532120" cy="987552"/>
          </a:xfrm>
          <a:prstGeom prst="roundRect">
            <a:avLst>
              <a:gd name="adj" fmla="val 5556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9560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193792"/>
            <a:ext cx="5166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901184"/>
            <a:ext cx="5532120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9560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5193792"/>
            <a:ext cx="5166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해결하였으며, 검증을 통과한 구성요소만 안전 판단 경로에 올렸다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481328"/>
            <a:ext cx="11183112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48132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1828800"/>
            <a:ext cx="384048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1828800"/>
            <a:ext cx="54864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7512" y="2066544"/>
            <a:ext cx="35295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있고,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71416" y="18288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71416" y="1828800"/>
            <a:ext cx="54864" cy="102412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8" name="Text 16"/>
          <p:cNvSpPr/>
          <p:nvPr/>
        </p:nvSpPr>
        <p:spPr>
          <a:xfrm>
            <a:off x="4636008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6008" y="2066544"/>
            <a:ext cx="316382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미연결 방안을 검토하였으나, 초기화가 I²C 주소 탐색 전에 RESET 을 LOW 20 ms → HIGH 300 ms 로 토글해야 해서 부팅 시퀀스가 성립하지 않았다. 사람이 눌러야 복구되는 장치는 무인 감시에 쓸 수 없다.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74152" y="1828800"/>
            <a:ext cx="3611880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74152" y="1828800"/>
            <a:ext cx="54864" cy="10241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8238744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38744" y="2066544"/>
            <a:ext cx="33009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017520"/>
            <a:ext cx="11183112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01752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02920" y="3364992"/>
            <a:ext cx="3840480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336499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602736"/>
            <a:ext cx="35295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471416" y="3364992"/>
            <a:ext cx="3474720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1416" y="3364992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636008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36008" y="3602736"/>
            <a:ext cx="31638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74152" y="3364992"/>
            <a:ext cx="3611880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3364992"/>
            <a:ext cx="54864" cy="85953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6" name="Text 34"/>
          <p:cNvSpPr/>
          <p:nvPr/>
        </p:nvSpPr>
        <p:spPr>
          <a:xfrm>
            <a:off x="8238744" y="3410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38744" y="3602736"/>
            <a:ext cx="33009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4389120"/>
            <a:ext cx="11183112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438912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736592"/>
            <a:ext cx="384048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" y="4736592"/>
            <a:ext cx="54864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2" name="Text 40"/>
          <p:cNvSpPr/>
          <p:nvPr/>
        </p:nvSpPr>
        <p:spPr>
          <a:xfrm>
            <a:off x="667512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· 원인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7512" y="4974336"/>
            <a:ext cx="35295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1416" y="4736592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71416" y="4736592"/>
            <a:ext cx="54864" cy="102412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46" name="Text 44"/>
          <p:cNvSpPr/>
          <p:nvPr/>
        </p:nvSpPr>
        <p:spPr>
          <a:xfrm>
            <a:off x="4636008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 · 실패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636008" y="4974336"/>
            <a:ext cx="316382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파일의 존재만으로 검증 통과를 판단할 수 없음을 확인하였다.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074152" y="4736592"/>
            <a:ext cx="3611880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74152" y="4736592"/>
            <a:ext cx="54864" cy="102412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50" name="Text 48"/>
          <p:cNvSpPr/>
          <p:nvPr/>
        </p:nvSpPr>
        <p:spPr>
          <a:xfrm>
            <a:off x="8238744" y="47823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38744" y="4974336"/>
            <a:ext cx="33009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무효·결측 증거는 마지막 정상값으로 대체 없이 그대로 무효로 처리한다. 네 채널이 모두 무효이면 risk_score 와 risk_level 을 None 으로 두고 system_health 를 FAILED 로 기록한다. 무응답은 점검 필요 상태로 다룬다.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결측 수치는 0 대체 없이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식별이 가능한 RGB 카메라를 배제하였다. mmWave 의 미세 움직임, 열화상의 열 분포, CO₂ 의 환경 추세, PIR 의 움직임 이벤트가 서로 다른 실패 모드를 상쇄한다. 80×62 열화상은 개인 식별에 쓰기 어려운 해상도라 촬영이 통제되는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 대신 점검 필요 상태를 출력한다.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6035040" y="640080"/>
            <a:ext cx="5650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대응한다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43584"/>
                <a:gridCol w="1060704"/>
                <a:gridCol w="1005840"/>
                <a:gridCol w="1243584"/>
                <a:gridCol w="1444752"/>
                <a:gridCol w="1517904"/>
                <a:gridCol w="1563624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감지 성능보다 증거를 다루는 정책에서 차이를 둔다.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1,042줄 · RAM 9.9 % / Flash 20.5 % · 자기진단 9종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4건 통과 · CRC-16 · 범위 재계산 · 이중 TTL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Pi 5 p50 162.70 / p95 173.90 ms · 유효 97.8 % · fail-closed 6종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통합 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[검증 후 입력]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동시 수용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5760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850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95344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정본 트리에서 하드웨어 없이 실행 가능한 테스트 40건을 직접 실행하여 전부 통과하였다 (LCD 4 · 위험도 22 · CO₂ 10 · mmWave 4).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재편 이전 트리의 실패 2건은 결과를 보정하지 않고 실패로 기록하였다. 테스트 함수 1,483개는 소스에 정의된 개수이므로 실행 건수와 구분한다.</a:t>
            </a:r>
            <a:endParaRPr lang="en-US" sz="95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긴급은 4채널이 동시에 위험을 가리키는 조건이라 실기기에서 재현할 수 없어 시나리오 입력으로 확인하였다.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개인을 식별할 수 있는 RGB 카메라를 쓰지 않는다. 열화상은 80×62 저해상도 표면 온도 분포이고,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RGB 영상 기반 감시에 비해 개인정보 노출 가능성이 낮고, 촬영 장비 반입이 통제되는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연구시설 (확장 적용 분야)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RGB 영상을 남기지 않아 반출 심사 부담이 작다. 1인 작업이 잦은 클린룸·시험동이 우선 적용 대상이며, 반도체 팹·군사시설은 현장 검증 전 단계의 적용 후보다.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mmWave 채널 단독 리플레이 평가에서 좌석 거리에 해당하는 0.6~0.9 m 구간 재실 검출률 1.000 을 얻었다. 잔류 여부를 사람의 조작 없이 센서가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560320"/>
            <a:ext cx="5422392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560320"/>
            <a:ext cx="5422392" cy="274320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413248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화면에는 RGB 영상 없이 상태값만 남는다.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 · 표시부 하우징 3D 출력(PLA)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55,700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4773168"/>
            <a:ext cx="5513832" cy="1280160"/>
          </a:xfrm>
          <a:prstGeom prst="roundRect">
            <a:avLst>
              <a:gd name="adj" fmla="val 428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80974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047488"/>
            <a:ext cx="5148072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보조 안전설비의 초기 도입비이며, 5개 공간 기준 공간당 260,482원으로 감시인 1명 월 인건비의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상향과 제품화 비용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1.2 m 0.814, 1.5 m 에서 lock loss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6263640" y="3255264"/>
            <a:ext cx="5422392" cy="1389888"/>
          </a:xfrm>
          <a:prstGeom prst="roundRect">
            <a:avLst>
              <a:gd name="adj" fmla="val 394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28232" y="32918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제품화 지향 상위 구성 시 도입 비용 (감지 노드 1식)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428232" y="3511296"/>
            <a:ext cx="512064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TI IWR6843AOPEVM 280,417원 · 열화상 FLIR Lepton 3.5(160×120) 237,876원 · CO₂ SCD41 27,314원 · MCU 현행 유지 33,578원
</a:t>
            </a:r>
            <a:pPr indent="0" marL="0">
              <a:lnSpc>
                <a:spcPts val="1150"/>
              </a:lnSpc>
              <a:buNone/>
            </a:pPr>
            <a:r>
              <a:rPr lang="en-US" sz="8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 노드 소계 579,185원. 관제 노드를 그대로 두면 1개 공간 1식 813,055원으로 현재 447,578원의 1.82배다.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교체해도 위험도 산출과 fail-closed 정책은 그대로 재사용한다.
</a:t>
            </a:r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구성 단가는 DigiKey 1개 유통가를 1 USD = 1,383원(2026-08-24)으로 환산한 추정치이며 함체·인증·양산 할인은 반영 전 금액이다.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6263640" y="473659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법령·보안 규정이 수요를 만드는 시장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6263640" y="5047488"/>
            <a:ext cx="16916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5047488"/>
            <a:ext cx="1691640" cy="4572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22" name="Text 18"/>
          <p:cNvSpPr/>
          <p:nvPr/>
        </p:nvSpPr>
        <p:spPr>
          <a:xfrm>
            <a:off x="6391656" y="5129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91656" y="533095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농도 측정과 감시인 배치를 사업주 의무로 규정한다. 최근 10년 질식재해 174건 · 사망 136명.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8129016" y="5047488"/>
            <a:ext cx="16916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129016" y="5047488"/>
            <a:ext cx="169164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6" name="Text 22"/>
          <p:cNvSpPr/>
          <p:nvPr/>
        </p:nvSpPr>
        <p:spPr>
          <a:xfrm>
            <a:off x="8257032" y="5129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257032" y="533095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의무화해 장착 수요가 이미 제도화되어 있다.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9994392" y="5047488"/>
            <a:ext cx="16916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994392" y="5047488"/>
            <a:ext cx="1691640" cy="4572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0" name="Text 26"/>
          <p:cNvSpPr/>
          <p:nvPr/>
        </p:nvSpPr>
        <p:spPr>
          <a:xfrm>
            <a:off x="10122408" y="51297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22408" y="533095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없다. RGB 영상을 남기지 않는 감시 수단의 대체재가 없다.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502920" y="610819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상위 구성 단가 출처 : digikey.com, mouser.com. 인건비 : 2026년 최저임금 월 환산액 2,156,880원.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871216"/>
            <a:ext cx="11045952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63040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부품 확보 · 개발환경 구축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92248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19096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97888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97888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32128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공간 30분 / 재실 31분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1456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48304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7096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7096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61336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· 책임 영역 재편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CODEOWNERS · 회귀 테스트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50664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7512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56304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6304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590544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 9.990 Hz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리플레이 벤치마크 12종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9872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720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85512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85512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9752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· Pi 5 지연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609080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5928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14720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14720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48960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→ Pi TCP 실경로 확인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638288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65136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43928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3928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678168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패키징 시점 스냅샷 확정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667496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94344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73136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73136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707376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표시·경보 상태 6종 확인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696704" y="2560320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623552" y="2798064"/>
            <a:ext cx="146304" cy="146304"/>
          </a:xfrm>
          <a:prstGeom prst="ellipse">
            <a:avLst/>
          </a:prstGeom>
          <a:solidFill>
            <a:srgbClr val="2E6FB7"/>
          </a:solidFill>
          <a:ln w="19050">
            <a:solidFill>
              <a:srgbClr val="2E6FB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02344" y="2304288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02344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736584" y="16642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개발완료보고서 최종 정리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0725912" y="2871216"/>
            <a:ext cx="0" cy="310896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652760" y="2798064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2A4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131552" y="3182112"/>
            <a:ext cx="118872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131552" y="31821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9765792" y="34747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실기기 E2E 검증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통합 시나리오 계측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2920" y="43159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62" name="Shape 60"/>
          <p:cNvSpPr/>
          <p:nvPr/>
        </p:nvSpPr>
        <p:spPr>
          <a:xfrm>
            <a:off x="502920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63" name="Text 61"/>
          <p:cNvSpPr/>
          <p:nvPr/>
        </p:nvSpPr>
        <p:spPr>
          <a:xfrm>
            <a:off x="502920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502920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502920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279392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67" name="Text 65"/>
          <p:cNvSpPr/>
          <p:nvPr/>
        </p:nvSpPr>
        <p:spPr>
          <a:xfrm>
            <a:off x="4279392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4279392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4279392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055864" y="4645152"/>
            <a:ext cx="3529584" cy="457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71" name="Text 69"/>
          <p:cNvSpPr/>
          <p:nvPr/>
        </p:nvSpPr>
        <p:spPr>
          <a:xfrm>
            <a:off x="8055864" y="4736592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8055864" y="499262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8055864" y="5266944"/>
            <a:ext cx="352958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경로에서 제외하였다.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2026-08-25T07:10:12Z</dcterms:created>
  <dcterms:modified xsi:type="dcterms:W3CDTF">2026-08-25T07:10:12Z</dcterms:modified>
</cp:coreProperties>
</file>